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Тренажёр для оператора установки ЭЛОУ-АВТ. Три вещи: живая модель процесса, ИИ, который разбирает действия оператора, и оценка квалификации по итогам.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Ключевое: прототип рабочий и опубликован. Любой член жюри может зайти и проверить 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живёт от той же телеметрии, что и приборная панель — отдельного канала данных у неё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сценария — каркас. Добавление нового сценария не требует правки кода: это строки в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Требование критерия — интерпретируемость. Класс без объяснения последствия обучаемому бесполезен.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части требования по ИИ закрыты: классификация, объяснение, прогноз, адаптация.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 формируется один раз — при завершении, в том числе при обрыве связи. Повторное завершение новой оценки не создаёт.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— главное архитектурное решение: пятеро правят один репозиторий и не блокируют друг друга.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Справа — настоящий журнал аудита стенда: видны вход, отказ в доступе к чужой тренировке и открытие разбора инструктором.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Конвейер — не украшение: он ловил настоящие ошибки, которые не воспроизводились на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Замеры перевыпускаются одной командой — цифры в документе всегда с последнего прогона.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несоответствий приводим сами: жюри всё равно спросит, а честный ответ с планом перехода сильнее умолчания.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рабочий и опубликован. Дальше — углубление модели и перенос на реестровую среду; архитектура для этого уже готова.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74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КТК ЭЛОУ-АВТ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28803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Компьютерный тренажёрный комплекс оператора установки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первичной переработки нефти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двойник · ИИ-разбор действий · оценка квалификации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526280"/>
            <a:ext cx="3840480" cy="0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IT-чемпионат нефтяной отрасли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50749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Загитов Антон — капитан, backend и интеграция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Светлана — цифровой двойник · Константин — ИИ-модуль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Михаил — интерфейс · Элтон — требования, экономика, ИБ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5560" y="1965960"/>
            <a:ext cx="713232" cy="713232"/>
          </a:xfrm>
          <a:prstGeom prst="ellipse">
            <a:avLst/>
          </a:prstGeom>
          <a:solidFill>
            <a:srgbClr val="161E2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0" y="19659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195560" y="2807208"/>
            <a:ext cx="713232" cy="713232"/>
          </a:xfrm>
          <a:prstGeom prst="ellipse">
            <a:avLst/>
          </a:prstGeom>
          <a:solidFill>
            <a:srgbClr val="161E2C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5560" y="280720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195560" y="3648456"/>
            <a:ext cx="713232" cy="713232"/>
          </a:xfrm>
          <a:prstGeom prst="ellipse">
            <a:avLst/>
          </a:prstGeom>
          <a:solidFill>
            <a:srgbClr val="161E2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95560" y="364845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95560" y="4489704"/>
            <a:ext cx="713232" cy="713232"/>
          </a:xfrm>
          <a:prstGeom prst="ellipse">
            <a:avLst/>
          </a:prstGeom>
          <a:solidFill>
            <a:srgbClr val="161E2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95560" y="448970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52176" y="2679192"/>
            <a:ext cx="0" cy="2523744"/>
          </a:xfrm>
          <a:prstGeom prst="line">
            <a:avLst/>
          </a:prstGeom>
          <a:noFill/>
          <a:ln w="19050">
            <a:solidFill>
              <a:srgbClr val="2A34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результат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требовалось и что работает сегодня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17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кейса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1938528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 оператора ЭЛОУ-АВТ с цифровым двойником установки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находит, классифицирует и объясняет ошибки оператора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квалификации по итогам тренировки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Отечественные или патентно чистые технологии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517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сегодня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автотестов, зелёные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SQLite и PostgreSQL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A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мс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96112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 на команду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оператора, p50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3291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A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коммита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живого стенда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0" y="3291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611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 ошибок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техрегламенту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206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развёрнут и доступен: </a:t>
            </a:r>
            <a:pPr indent="0" marL="0">
              <a:buNone/>
            </a:pPr>
            <a:r>
              <a:rPr lang="en-US" sz="14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itchamp.root72.ru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роли, HTTPS, обновляется автоматически при каждом коммите. Это не макет и не запись экрана: телеметрия идёт в реальном времени, раз в секунду, по WebSocket.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оператора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Мнемосхема, показания, управление и ИИ-ассистент на одном экране</a:t>
            </a:r>
            <a:endParaRPr lang="en-US" sz="1300" dirty="0"/>
          </a:p>
        </p:txBody>
      </p:sp>
      <p:pic>
        <p:nvPicPr>
          <p:cNvPr id="6" name="Image 0" descr="/tmp/claude-0/-home-user/073f3029-0052-5d3e-9216-bee9d75e82ad/scratchpad/slides/workstation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818120" cy="4471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4964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цепочка ЭЛОУ-АВТ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96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насоса сырья через ЭЛОУ, теплообменник и печь до отбора мазута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49640" y="2560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телеметрия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4964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 в трубопроводах, горелки печи, уровень в кубе — от модели, а не анимация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Приборы там, где есть измерение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4964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FI, PI, TI, LI. Аппарат без КИП цифру рядом не получает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49640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Авария видна на схеме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4964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аппарат и его прибор краснеют одновременно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снят на работающем стенде: авария по давлению, ИИ назвал класс ошибки и сослался на пункт регламента.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двойник и сценарии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установки, запланированные отказы и эталон правильных действий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процесса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93392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узла: расход, давление, температура, уровень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счёта 0,013 мс — в 79 000 раз быстрее такта в 1 с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упрощённой динамики на модели ректификации и теплообмена в такт не упирается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137160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с отказами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2856" y="1993392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срабатывает по модельному времени, а не по нажатию инструктора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 насоса, нештатный рост давления, погасание печи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сценария разной сложности: пуск, отказ насоса, рост давления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4152" y="1371600"/>
            <a:ext cx="3566160" cy="3520440"/>
          </a:xfrm>
          <a:prstGeom prst="roundRect">
            <a:avLst>
              <a:gd name="adj" fmla="val 1558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действий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1993392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сценария — последовательность шагов с нормативом времени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помечен критическим, если его пропуск ведёт к аварии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эталоном даёт «пропущен», «не тот порядок», «с опозданием»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120640"/>
            <a:ext cx="11155680" cy="1143000"/>
          </a:xfrm>
          <a:prstGeom prst="roundRect">
            <a:avLst>
              <a:gd name="adj" fmla="val 4800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данных заморожен в одном файле: движок, ИИ и интерфейс дорабатываются независимо, не ломая друг друга. Отказ по времени, а не по кнопке, — обучаемый не видит, что инструктор что-то нажал, и не подстраивается.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ИИ: классификация и объяснение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«ошибка», а класс, место, последствие и пункт регламента</a:t>
            </a:r>
            <a:endParaRPr lang="en-US" sz="1300" dirty="0"/>
          </a:p>
        </p:txBody>
      </p:sp>
      <p:pic>
        <p:nvPicPr>
          <p:cNvPr id="6" name="Image 0" descr="/tmp/claude-0/-home-user/073f3029-0052-5d3e-9216-bee9d75e82ad/scratchpad/slides/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577840" cy="4443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371600"/>
            <a:ext cx="365760" cy="365760"/>
          </a:xfrm>
          <a:prstGeom prst="ellipse">
            <a:avLst/>
          </a:prstGeom>
          <a:solidFill>
            <a:srgbClr val="161E2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03720" y="1353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классов ошибок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03720" y="16276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привязан к пункту техрегламента установки — 7.7.1.16, 7.10.3 и другим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2505456"/>
            <a:ext cx="365760" cy="365760"/>
          </a:xfrm>
          <a:prstGeom prst="ellipse">
            <a:avLst/>
          </a:prstGeom>
          <a:solidFill>
            <a:srgbClr val="161E2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03720" y="2487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03720" y="27614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COLUMN_1, VALVE_FEED, PUMP_1 — оператор видит, где именно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55080" y="3639312"/>
            <a:ext cx="365760" cy="365760"/>
          </a:xfrm>
          <a:prstGeom prst="ellipse">
            <a:avLst/>
          </a:prstGeom>
          <a:solidFill>
            <a:srgbClr val="161E2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03720" y="3621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последствия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903720" y="389534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«срыв печных насосов и прогар змеевика», а не строка pressure_runaway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55080" y="4773168"/>
            <a:ext cx="365760" cy="365760"/>
          </a:xfrm>
          <a:prstGeom prst="ellipse">
            <a:avLst/>
          </a:prstGeom>
          <a:solidFill>
            <a:srgbClr val="161E2C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0372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в контексте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903720" y="5029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клапан при выводе на режим — норма; он же при растущем давлении — грубая ошибка. По одним показаниям приборов эти случаи неразличимы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вывод ИИ на реальной тренировке: класс, длительность эпизода, последствие, рекомендация и основание.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ИИ: прогноз риска и адаптация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 до аварии и подбор следующего сценария по истории ошибок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72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Прогноз, а не сигнализация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933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изменения параметра считается методом наименьших квадратов по скользящему окну — по двум соседним снимкам знак тренда скакал бы каждый такт из-за пульсации.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871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1638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 до уставки ≈ 27 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7168" y="2871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87168" y="31638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ошибка: рост нагрузки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78808" y="2871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78808" y="31638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авария по давлению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133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база знаний, а не модель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" y="4553712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Размеченных тренировок пока нет. Модель на синтетике выдавала бы уверенные ответы, ни на чём не основанные, — а критерий требует объяснимости. Правила опираются на техрегламент, их можно проверить и защитить.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этом разметка копится с каждой тренировкой: журнал действий, телеметрия и найденные ошибки — готовый обучающий набор. Место замены отмечено в коде.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5349240" cy="4892040"/>
          </a:xfrm>
          <a:prstGeom prst="roundRect">
            <a:avLst>
              <a:gd name="adj" fmla="val 1121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подбор сценария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01968" y="19933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правил по убыванию приоритета. Порядок не произвольный: вести человека дальше, пока он повторяет один и тот же промах, бессмысленно.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68" y="2697480"/>
          <a:ext cx="4754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видел обучаемый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предложит система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истории 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самый простой сценарий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прошлая попытка не сдана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её же, пока не отработана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одна ошибка в 2 тренировках из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сценарий, который её отрабатывает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предыдущий сдан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следующий по сложности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пройдено всё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 с худшим результатом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601968" y="5349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всегда несёт основание простым языком — без него подбор выглядит случайным выбором из списка, и инструктор ему не поверит.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тренировки и оценка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Журнал, график телеметрии, найденные ошибки и балл — одним ответом сервера</a:t>
            </a:r>
            <a:endParaRPr lang="en-US" sz="1300" dirty="0"/>
          </a:p>
        </p:txBody>
      </p:sp>
      <p:pic>
        <p:nvPicPr>
          <p:cNvPr id="6" name="Image 0" descr="/tmp/claude-0/-home-user/073f3029-0052-5d3e-9216-bee9d75e82ad/scratchpad/slides/debrief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77240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баллов минус штрафы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1645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сдачи 70. Из чего сложился штраф — видно построчно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03920" y="2423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эталоном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2697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шагу: выполнен, пропущен, с опозданием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03920" y="3474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Эпизоды, а не такты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03920" y="3749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длящаяся авария — одна ошибка, а не по одной на каждую секунду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617720"/>
            <a:ext cx="11155680" cy="1737360"/>
          </a:xfrm>
          <a:prstGeom prst="roundRect">
            <a:avLst>
              <a:gd name="adj" fmla="val 3158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864608"/>
            <a:ext cx="457200" cy="457200"/>
          </a:xfrm>
          <a:prstGeom prst="ellipse">
            <a:avLst/>
          </a:prstGeom>
          <a:solidFill>
            <a:srgbClr val="161E2C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63040" y="48463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Эталонные шаги — это «ответы» к сценарию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63040" y="519379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 и администратор видят их сразу, обучаемый — только после того, как инструктор откроет разбор. Без этого оставалась лазейка: начать тренировку, сразу завершить её и прочитать в собственной оценке правильную последовательность действий. Ограничение действует во всех трёх местах, где оценка попадает к обучаемому.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модуля, один контракт данных, независимая разработка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161E2C"/>
          </a:solidFill>
          <a:ln w="19050">
            <a:solidFill>
              <a:srgbClr val="5AA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756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мнемосхема, разбор,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161E2C"/>
          </a:solidFill>
          <a:ln w="19050">
            <a:solidFill>
              <a:srgbClr val="E8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тренировки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9000" y="23957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старт, такт, завершение,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207008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161E2C"/>
          </a:solidFill>
          <a:ln w="19050">
            <a:solidFill>
              <a:srgbClr val="28C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62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двойник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0" y="16824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процесса,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отказы по времени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578608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161E2C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734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ИИ-модуль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17920" y="30540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классы, прогноз,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920240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161E2C"/>
          </a:solidFill>
          <a:ln w="19050">
            <a:solidFill>
              <a:srgbClr val="5AA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0756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5440" y="23957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таблиц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2432304"/>
            <a:ext cx="365760" cy="164592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719072"/>
            <a:ext cx="365760" cy="164592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090672"/>
            <a:ext cx="365760" cy="164592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2432304"/>
            <a:ext cx="365760" cy="164592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по WebSocket, один такт в секунду. Оценка и журнал уходят в хранилище тем же циклом.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315968"/>
            <a:ext cx="5394960" cy="2084832"/>
          </a:xfrm>
          <a:prstGeom prst="roundRect">
            <a:avLst>
              <a:gd name="adj" fmla="val 2632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480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контракт данных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490118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схемы описывают всё, чем модули обмениваются: состояние процесса, команда оператора, замечание ИИ, действие в журнал. Пока они не меняются, каждый дорабатывает свой модуль независимо. Новые поля добавляются только опциональными — так добавились прогноз и ссылка на регламент, и переписывать никому ничего не пришлось.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315968"/>
            <a:ext cx="5394960" cy="2084832"/>
          </a:xfrm>
          <a:prstGeom prst="roundRect">
            <a:avLst>
              <a:gd name="adj" fmla="val 2632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4480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дало на практике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56248" y="490118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Мнемосхема переписана целиком — ни одного нового поля в контракте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получил прогноз и адаптацию — интерфейс не тронут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упрощённой динамики на реальные матмодели схему не затронет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безопасность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доступа, стойкие пароли и полный журнал аудита</a:t>
            </a:r>
            <a:endParaRPr lang="en-US" sz="1300" dirty="0"/>
          </a:p>
        </p:txBody>
      </p:sp>
      <p:pic>
        <p:nvPicPr>
          <p:cNvPr id="6" name="Image 0" descr="/tmp/claude-0/-home-user/073f3029-0052-5d3e-9216-bee9d75e82ad/scratchpad/slides/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25880"/>
            <a:ext cx="5623560" cy="4379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716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— Argon2id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64592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SHA-256 и не bcrypt. Наружу не отдаётся ни пароль, ни его хеш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26771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Сеанс — токен в cookie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54203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и SameSite=Strict: недоступен скриптам, не уходит на чужой сайт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16382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роли, проверка на каждом запросе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438144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восстанавливается из БД при каждом обращении — отключение и смена роли действуют немедленно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4059936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подбора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433425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неудачных попыток за 15 минут — блокировка на пять минут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95604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523036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входы, отказы в доступе, действия администратора, начало и конец тренировок — с IP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в доступе — не просто код 403: он попадает в журнал вместе с тем, что именно пытались открыть.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и поставка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контейнерный стек, автоматическая выкладка по зелёным тестам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16152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пушит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репозиторий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91256" y="2075688"/>
            <a:ext cx="137160" cy="146304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7160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1554480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78224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93592" y="20665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и PostgreSQL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53328" y="2075688"/>
            <a:ext cx="137160" cy="146304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37160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1554480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0296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55664" y="20665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поднимается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отвечает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15400" y="2075688"/>
            <a:ext cx="137160" cy="146304"/>
          </a:xfrm>
          <a:prstGeom prst="rightArrow">
            <a:avLst/>
          </a:prstGeom>
          <a:solidFill>
            <a:srgbClr val="2A3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137160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17736" y="1554480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17736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02368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Выкладка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17736" y="20665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обновляется,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проверяется снаружи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20040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401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5528" y="3822192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приложение, PostgreSQL 16, nginx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с автопродлением сертификата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на чистый сервер одной командой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1 ядре и 1 ГБ ОЗУ — тот самый стенд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Резервная копия базы командой из документации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320040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3401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выкладка автоматическая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01968" y="382219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смотрит вся команда, и он должен показывать текущее состояние, а не то, что кто-то успел выложить руками. Выкладка запускается только после трёх зелёных задач: если тесты упали, стенд остаётся на прошлой рабочей версии — сломанное состояние туда не доедет.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01968" y="5120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601968" y="5669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пуша до живого стенда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144000" y="5120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A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144000" y="5669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 конвейере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Замерено скриптом, а не оценено на глаз. Значения — миллисекунды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34440"/>
                <a:gridCol w="1371600"/>
                <a:gridCol w="1371600"/>
                <a:gridCol w="169164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Замеров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Норматив 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Отклик на команду оператора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C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уложились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Период выдачи телеметрии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C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уложились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сеанса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C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уложились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Разбор получасовой тренировки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C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уложились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Вход в систему (Argon2id)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C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уложились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 матмодели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9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8C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уложились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1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14800"/>
            <a:ext cx="11155680" cy="2148840"/>
          </a:xfrm>
          <a:prstGeom prst="roundRect">
            <a:avLst>
              <a:gd name="adj" fmla="val 2553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97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стоит за цифрами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1830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 телеметрии отсчитывается от расписания, а не от конца обработки, — задержка не накапливается: за получасовую тренировку модельное время не расходится с реальным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открывается одним запросом, отдающим сразу журнал, телеметрию, ошибки и оценку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стоит 85 мс — цена Argon2id. Стойкость к перебору покупается временем счёта, и на отклик рабочего места это не влияет: вход выполняется раз за смену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модели быстрее такта примерно в 79 000 раз — запас под реальные матмодели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Импортонезависимость и лицензии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кейса: отечественные или патентно чистые технологии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72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закрыто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93392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зависимости — MIT, BSD-3 или Apache-2.0. Ни одной копилефт-лицензии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 — PostgreSQL 16, реестр российского ПО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Лицензии взяты из метаданных пакетов и перепроверяются одной командой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5486400" cy="2423160"/>
          </a:xfrm>
          <a:prstGeom prst="roundRect">
            <a:avLst>
              <a:gd name="adj" fmla="val 2264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40416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без внешних библиотек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4462272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1018 строк собственного HTML, SVG и JavaScript. Ни React, ни Chart.js, ни шрифтов из интернета.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аскетизм, а требование к целевой среде: рабочее место оператора стоит в закрытом сегменте сети без выхода наружу — страница, тянущая библиотеку с CDN, там просто не отрисуется. Побочно: нечему быть скомпрометированным в цепочке поставок npm.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49240" cy="4892040"/>
          </a:xfrm>
          <a:prstGeom prst="roundRect">
            <a:avLst>
              <a:gd name="adj" fmla="val 1121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1536192"/>
            <a:ext cx="420624" cy="42062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5361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7804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пока не соответствуем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01968" y="2103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список. Все пункты — про среду развёртывания, а не про код: приложение не зависит ни от одного проприетарного компонента, поэтому переход не требует переписывания.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68" y="2926080"/>
          <a:ext cx="47548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06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Сейчас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A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Целевое состояние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 стенда — Ubuntu 24.04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Astra Linux SE: замена базового образа, нужен Python 3.11+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Hub как источник образов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внутренний реестр предприятия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Сертификат Let’s Encrypt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сертификат внутреннего удостоверяющего центра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C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601968" y="5440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пункт не требует правки прикладного кода — это параметры сборки и развёртывания.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61872" y="329184"/>
            <a:ext cx="1039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 дорожная карта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61872" y="786384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предприятию и что делаем дальше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727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для предприятия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993392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и аттестация оператора без остановки установки и без риска для оборудования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Отработка аварийных режимов, которые на действующей установке создать нельзя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Объективная оценка вместо мнения инструктора: балл, журнал действий и время реакции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ошибок со ссылкой на пункт регламента — обучение, а не констатация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52628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4709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Экономическое обоснование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512978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стоимости внедрения и срока окупаемости — отдельный блок, готовится аналитиком команды на основании нормативов подготовки персонала и стоимости простоя установки.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49240" cy="4892040"/>
          </a:xfrm>
          <a:prstGeom prst="roundRect">
            <a:avLst>
              <a:gd name="adj" fmla="val 1121"/>
            </a:avLst>
          </a:prstGeom>
          <a:solidFill>
            <a:srgbClr val="161E2C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01968" y="2057400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28C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C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50608" y="2039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Матмодели процесса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50608" y="23134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ректификация, теплообмен и гидравлика вместо упрощённой динамики узла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01968" y="3081528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0608" y="3063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установки целиком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50608" y="33375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отбензинивающая колонна и отпарные секции, когда их даст модель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01968" y="4105656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0608" y="4087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 накопленных данных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0608" y="43616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действий, телеметрия и найденные ошибки — готовая разметка; справочник классов задаёт целевую переменную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01968" y="5129784"/>
            <a:ext cx="384048" cy="384048"/>
          </a:xfrm>
          <a:prstGeom prst="ellipse">
            <a:avLst/>
          </a:prstGeom>
          <a:solidFill>
            <a:srgbClr val="0B111C"/>
          </a:solidFill>
          <a:ln w="22225">
            <a:solidFill>
              <a:srgbClr val="5AA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5129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50608" y="51114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реестровую ОС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0608" y="538581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образа на Astra Linux SE, внутренний реестр образов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КТК ЭЛОУ-АВТ</dc:title>
  <dc:subject>PptxGenJS Presentation</dc:subject>
  <dc:creator>Команда КТК ЭЛОУ-АВТ</dc:creator>
  <cp:lastModifiedBy>Команда КТК ЭЛОУ-АВТ</cp:lastModifiedBy>
  <cp:revision>1</cp:revision>
  <dcterms:created xsi:type="dcterms:W3CDTF">2026-08-03T04:50:22Z</dcterms:created>
  <dcterms:modified xsi:type="dcterms:W3CDTF">2026-08-03T04:50:22Z</dcterms:modified>
</cp:coreProperties>
</file>